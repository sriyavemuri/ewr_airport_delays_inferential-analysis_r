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21"/>
  </p:notesMasterIdLst>
  <p:sldIdLst>
    <p:sldId id="282" r:id="rId2"/>
    <p:sldId id="257" r:id="rId3"/>
    <p:sldId id="280" r:id="rId4"/>
    <p:sldId id="281" r:id="rId5"/>
    <p:sldId id="279" r:id="rId6"/>
    <p:sldId id="258" r:id="rId7"/>
    <p:sldId id="268" r:id="rId8"/>
    <p:sldId id="269" r:id="rId9"/>
    <p:sldId id="270" r:id="rId10"/>
    <p:sldId id="260" r:id="rId11"/>
    <p:sldId id="285" r:id="rId12"/>
    <p:sldId id="263" r:id="rId13"/>
    <p:sldId id="271" r:id="rId14"/>
    <p:sldId id="272" r:id="rId15"/>
    <p:sldId id="273" r:id="rId16"/>
    <p:sldId id="274" r:id="rId17"/>
    <p:sldId id="275" r:id="rId18"/>
    <p:sldId id="276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8673BD-07F6-27FF-FB38-DB0EA76AD711}" name="Sriya Vemuri" initials="SV" userId="S::sv660@scarletmail.rutgers.edu::9554b9b4-5f0f-4734-9c00-9473fef00f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A18"/>
    <a:srgbClr val="ECEBE9"/>
    <a:srgbClr val="E8E8E2"/>
    <a:srgbClr val="AD9887"/>
    <a:srgbClr val="FDE59A"/>
    <a:srgbClr val="78746C"/>
    <a:srgbClr val="8E8A80"/>
    <a:srgbClr val="888C86"/>
    <a:srgbClr val="000000"/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D63E2-037A-984E-AB00-BCD95AC16A60}" v="326" dt="2026-05-06T22:25:55.378"/>
    <p1510:client id="{B9EAC129-187E-227C-B34F-2A5041C79E7F}" v="4" dt="2026-05-06T21:45:16.321"/>
    <p1510:client id="{D2DC4571-0A6A-DE5C-CA68-C72AFA43A2C7}" v="5" dt="2026-05-06T20:28:44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BAC35-C06D-4D0D-BF1C-59EC01D7C598}" type="datetimeFigureOut"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FE8BF-8F3E-41E7-97F2-ABC7B759EE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D43C-EC74-E071-8906-E59C627D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8A26A-3C6E-56A5-3C7C-FCF932227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719A6-4957-A7A9-D9D0-4AA331B0B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CA418-5CDF-8BB1-24A7-1FFA1278F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46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32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0E2C-035E-4D25-134A-A6F6DB3F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A0E5B-F26A-BCB3-1C11-FA32A66A9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69375-4300-7E55-37D8-BB20205C3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73E82-0D4D-4BD8-BA45-5E4666911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10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72D86-DF8D-EAE6-E369-0DEC2FE8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A0ECF-0368-735C-5798-E594A0665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B3275-6E23-A904-E37B-76C67C2FD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E5A1C-F6B3-36B8-B071-FBB39D1C0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48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06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81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97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15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78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2954-A140-39D8-D6F6-76E24704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0C43C-2ACF-E7E7-61F0-90174C48D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839D7-5788-5709-7C4E-0BDF742DC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BE08B-7266-51A1-EE50-849195AAB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3FE8BF-8F3E-41E7-97F2-ABC7B759EEA0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20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1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43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97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86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86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2FA1-3DBA-F739-BC92-A07CF55F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44AA5-EAED-27DC-CEE3-7ADD6619C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655AD-1D6A-C470-A14A-F9AB8F1B7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AA00C-02B6-C411-F630-FF4593C7A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FE8BF-8F3E-41E7-97F2-ABC7B759EEA0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9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FD6B-6567-E777-B6D4-9406E19A3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E297F-478A-E337-FCBC-39106790C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EB602-8694-5BD8-E749-5CDE8C13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DF7F-016D-2DB5-D0CD-1A3D9024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B7F90-1AEE-B755-EF12-845613B5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8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4776-8FAB-210E-F657-3502A318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B1C4D-E65E-B0B9-418E-71C2F91E4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CB22B-EFAA-D6CD-A205-4DE00D44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6FB21-A347-A4CA-52DA-0AD0AA0F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DF8B6-6225-E90B-DD7C-FCA2D45D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0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7D89-A800-215F-B720-11194ACF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36566-3BF6-D9C2-B53D-F53B9793B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1D108-695F-A401-05FE-A084F2B1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ABF07-5F78-2DD7-65B3-66E28227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7D983-8AD9-01D5-2921-817C8934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38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1700-EC62-5558-075A-C3B37156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80EC3-02E7-101C-A33D-9793D5578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ADA58-FED0-AA25-0316-19C6C0CE6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2C665-7524-E74C-5CE4-982E9BD0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1114-CA8B-7628-4E89-D666B9D30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2110A-8E8C-92F8-EFCF-FB97CB4F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1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82FE-B379-1981-0E92-60EB7907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EDC63-E17B-BC85-5C38-5749A5C6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0663E-84A7-1900-C488-8CDF158D6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A02F5-7054-7BB0-CB0D-0FD127B81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FB41C-53EF-10DF-E03D-06C646346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2759DB-6F55-5035-5112-FD7FD579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3AC55-03DC-1A63-0AF9-56FCEAA8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86209-29D5-5E39-2E57-D801E9F5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58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2EB9-EA19-A6A3-657E-501CF077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84A3D-FF96-A749-5437-0497866F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8C55-3384-A8C4-066B-C3EC2C0E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6C26D-0B61-0570-CE54-824B94E7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1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909E2-8209-EFC5-5EC3-23272281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DB0F6-A157-1820-A956-93627168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99B84-420C-1052-416C-6A66390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1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DC99-B513-9343-9992-453FA8C5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F9B4C-A559-944B-4673-D7334874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E21EC-E2EB-3DBE-557F-BAB6986E2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388AA-1482-5DB0-5C1C-BDC70BDE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B3A1E-9F0A-079D-3914-7E263B49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A7121-0835-7101-16BE-24D2EB79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4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E341-DCD9-AA42-D528-D8C79138B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DF783-2F75-D16F-2D2C-505181565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6B89D-12D2-2623-FE43-C4C6E93EE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1E890-80CF-516D-B964-752804F0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F1F45-C23E-C575-6B4F-4977CEA5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6BE32-B13B-74E0-3FAC-9E022A82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3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BF29-A2E1-FB01-1674-7DF93206F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D4879-6816-DBCC-2F7F-18129EAB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FAECC-A7B8-C759-1A8E-AF950B63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0CDA-26BA-E77F-3E48-7A01C54D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1C732-CBAF-53C2-8499-4FC6E29D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BE0E5-A876-1EE8-88D0-BAE03CC2E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BF474-AC5A-0014-02E2-DC0344389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8306E-1E3A-F50C-3791-F0DF2AEF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1284-C13A-5A87-3B3C-7E49D209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4B91C-24B1-5237-06E3-C4BC8E4E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0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F5FF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FBC92-3E7A-64BC-3BBD-B646419A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A86F5-5FD2-EE8E-E66B-8BED43E0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84074-29E8-020D-87FE-36F11EF11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1397C-2C32-2CE2-A0AA-A70FF120B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4B31E-670B-5726-260F-F0844E3EF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39DEE-C9A9-E9DB-00A2-671EA1D0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n aerial view of an airport&#10;&#10;AI-generated content may be incorrect.">
            <a:extLst>
              <a:ext uri="{FF2B5EF4-FFF2-40B4-BE49-F238E27FC236}">
                <a16:creationId xmlns:a16="http://schemas.microsoft.com/office/drawing/2014/main" id="{F8A350A6-2DE6-623D-AB67-6EA843FAF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91" r="9091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4114" name="Rectangle 411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5BB4B-72D4-1691-8475-0111FC90F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5100" b="1">
                <a:solidFill>
                  <a:schemeClr val="bg1"/>
                </a:solidFill>
                <a:highlight>
                  <a:srgbClr val="141A18"/>
                </a:highlight>
                <a:latin typeface="Aptos Display"/>
              </a:rPr>
              <a:t>Factors Influencing Taxi-Out Time at Newark Liberty International Airport (EWR)</a:t>
            </a:r>
          </a:p>
        </p:txBody>
      </p:sp>
      <p:sp>
        <p:nvSpPr>
          <p:cNvPr id="4116" name="Rectangle: Rounded Corners 411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22849-E5FB-557B-E81A-D05D95A74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egoe UI"/>
                <a:cs typeface="Segoe UI"/>
              </a:rPr>
              <a:t>Matt Cohen, Krupali Kothari, Khushi Patel, Sriya Vemuri</a:t>
            </a:r>
          </a:p>
        </p:txBody>
      </p:sp>
    </p:spTree>
    <p:extLst>
      <p:ext uri="{BB962C8B-B14F-4D97-AF65-F5344CB8AC3E}">
        <p14:creationId xmlns:p14="http://schemas.microsoft.com/office/powerpoint/2010/main" val="244709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11"/>
    </mc:Choice>
    <mc:Fallback xmlns="">
      <p:transition spd="slow" advTm="611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91B0F-5A7E-6B39-032E-50D66524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0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b="1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6B0DC-17E5-8B03-0FB3-C279D0745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865119"/>
            <a:ext cx="5469895" cy="351065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300">
                <a:ea typeface="+mn-lt"/>
                <a:cs typeface="+mn-lt"/>
              </a:rPr>
              <a:t>Taxi-out affects both passengers and airport operations</a:t>
            </a:r>
          </a:p>
          <a:p>
            <a:r>
              <a:rPr lang="en-US" sz="2300">
                <a:ea typeface="+mn-lt"/>
                <a:cs typeface="+mn-lt"/>
              </a:rPr>
              <a:t>Taxi-out time is a direct measure of ground movement</a:t>
            </a:r>
          </a:p>
          <a:p>
            <a:pPr lvl="1"/>
            <a:r>
              <a:rPr lang="en-US" sz="2300">
                <a:ea typeface="+mn-lt"/>
                <a:cs typeface="+mn-lt"/>
              </a:rPr>
              <a:t>Longer taxi-out times </a:t>
            </a:r>
            <a:r>
              <a:rPr lang="en-US" sz="2300">
                <a:ea typeface="+mn-lt"/>
                <a:cs typeface="+mn-lt"/>
                <a:sym typeface="Wingdings" pitchFamily="2" charset="2"/>
              </a:rPr>
              <a:t> </a:t>
            </a:r>
            <a:r>
              <a:rPr lang="en-US" sz="2300">
                <a:ea typeface="+mn-lt"/>
                <a:cs typeface="+mn-lt"/>
              </a:rPr>
              <a:t>ground congestion, operational inefficiency </a:t>
            </a:r>
            <a:endParaRPr lang="en-US" sz="2300"/>
          </a:p>
          <a:p>
            <a:pPr lvl="1"/>
            <a:r>
              <a:rPr lang="en-US" sz="2300">
                <a:ea typeface="+mn-lt"/>
                <a:cs typeface="+mn-lt"/>
              </a:rPr>
              <a:t>Understanding these drivers can help improve airport scheduling and runway operations</a:t>
            </a:r>
            <a:endParaRPr lang="en-US" sz="2300"/>
          </a:p>
        </p:txBody>
      </p:sp>
      <p:pic>
        <p:nvPicPr>
          <p:cNvPr id="16" name="Picture 15" descr="Aerial view of parked airplane">
            <a:extLst>
              <a:ext uri="{FF2B5EF4-FFF2-40B4-BE49-F238E27FC236}">
                <a16:creationId xmlns:a16="http://schemas.microsoft.com/office/drawing/2014/main" id="{14FD3AA5-BEC3-532D-1358-FDB76386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75" r="36624" b="-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8757D0-5FB2-3B28-5941-B619D0FF7574}"/>
              </a:ext>
            </a:extLst>
          </p:cNvPr>
          <p:cNvSpPr txBox="1"/>
          <p:nvPr/>
        </p:nvSpPr>
        <p:spPr>
          <a:xfrm>
            <a:off x="757954" y="1455488"/>
            <a:ext cx="5695057" cy="1154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300" b="1" i="1">
                <a:latin typeface="Segoe UI"/>
                <a:cs typeface="Segoe UI"/>
              </a:rPr>
              <a:t>What </a:t>
            </a:r>
            <a:r>
              <a:rPr lang="en-US" sz="2300" b="1" i="1"/>
              <a:t>operational, congestion, and weather factors influence taxi-out time at Newark Airport in June 2024?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29823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CED28-F040-8CA5-A280-F966BB39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AF8D-F1AD-7CC1-D163-B94CF435D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Collection Process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517679-0BE6-1928-5C68-886EC557D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4042065"/>
            <a:ext cx="5157787" cy="1202314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Bureau of Transportation Statistics (BTS) Reporting Carrier On-Time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EECB-59DC-A6A2-099F-F782AA08F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5278581"/>
            <a:ext cx="5157787" cy="91108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000">
                <a:cs typeface="Arial"/>
              </a:rPr>
              <a:t>Domestic flight data in the US</a:t>
            </a:r>
          </a:p>
          <a:p>
            <a:pPr>
              <a:spcBef>
                <a:spcPts val="500"/>
              </a:spcBef>
            </a:pPr>
            <a:r>
              <a:rPr lang="en-US" sz="2000">
                <a:cs typeface="Arial"/>
              </a:rPr>
              <a:t>Original dataset of domestic flights to and from EWR in June 2024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C39BC0-A4FA-351A-17F0-E80DEF650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4042062"/>
            <a:ext cx="5183188" cy="1202316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National Oceanic and Atmospheric (NOAA) Integrated Surface Database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6FBBC28-D591-12D5-7892-6373B62F4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5278581"/>
            <a:ext cx="5183188" cy="91108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000">
                <a:cs typeface="Arial"/>
              </a:rPr>
              <a:t>Hourly weather balloon data in the US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2000">
                <a:cs typeface="Arial"/>
              </a:rPr>
              <a:t>Original dataset from EWR weather balloon in 2024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2B50A0-CB73-9678-329C-B252AEEF6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054" y="1509422"/>
            <a:ext cx="2361479" cy="236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ureau of Transportation Statistics - Wikipedia">
            <a:extLst>
              <a:ext uri="{FF2B5EF4-FFF2-40B4-BE49-F238E27FC236}">
                <a16:creationId xmlns:a16="http://schemas.microsoft.com/office/drawing/2014/main" id="{D1E8DFC6-A2B8-E46E-E167-D5E806580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935" y="1509423"/>
            <a:ext cx="2361479" cy="236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99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3B2E5-65D7-1B92-AFB5-1077745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F845-984A-C5D4-0DC6-6110180B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98" y="300685"/>
            <a:ext cx="5618921" cy="109718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b="1"/>
              <a:t>Data Cleaning and Merging</a:t>
            </a:r>
          </a:p>
        </p:txBody>
      </p:sp>
      <p:pic>
        <p:nvPicPr>
          <p:cNvPr id="5" name="Picture 4" descr="Shadow of airplane wing on sunny runway">
            <a:extLst>
              <a:ext uri="{FF2B5EF4-FFF2-40B4-BE49-F238E27FC236}">
                <a16:creationId xmlns:a16="http://schemas.microsoft.com/office/drawing/2014/main" id="{E005C162-468D-1CE3-7123-A24C07F9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18" r="26834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AE43-DF7D-0387-BA4B-8EFC234F6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521" y="1351253"/>
            <a:ext cx="5861874" cy="530133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/>
              <a:t>Step 1: Filter Flight Data</a:t>
            </a:r>
            <a:endParaRPr lang="en-US" sz="2000"/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>
                <a:ea typeface="+mn-lt"/>
                <a:cs typeface="+mn-lt"/>
              </a:rPr>
              <a:t>Kept EWR departures for June 2024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>
                <a:ea typeface="+mn-lt"/>
                <a:cs typeface="+mn-lt"/>
              </a:rPr>
              <a:t>Removed cancelled flights and missing records</a:t>
            </a:r>
            <a:endParaRPr lang="en-US" sz="2000"/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>
                <a:ea typeface="+mn-lt"/>
                <a:cs typeface="+mn-lt"/>
              </a:rPr>
              <a:t>Parsed flight date/time features</a:t>
            </a:r>
            <a:endParaRPr lang="en-US" sz="2000"/>
          </a:p>
          <a:p>
            <a:pPr marL="0" indent="0">
              <a:buNone/>
            </a:pPr>
            <a:r>
              <a:rPr lang="en-US" sz="2000" b="1"/>
              <a:t>Step 2: Engineer Operational Variables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Created peak-hour and weekend indicators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Built congestion variables using previous 15- and 60-minute departure activity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Counted surface congestion at departure time</a:t>
            </a:r>
          </a:p>
          <a:p>
            <a:pPr marL="0" indent="0">
              <a:buNone/>
            </a:pPr>
            <a:r>
              <a:rPr lang="en-US" sz="2000" b="1"/>
              <a:t>Step 3: Merge Weather Data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Matched each flight to the nearest hourly weather record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sz="2000"/>
              <a:t>Created weather flags: rain, fog, and low ceiling</a:t>
            </a:r>
          </a:p>
          <a:p>
            <a:pPr lvl="1">
              <a:buFont typeface="Calibri" panose="020B0604020202020204" pitchFamily="34" charset="0"/>
              <a:buChar char="-"/>
            </a:pPr>
            <a:endParaRPr lang="en-US" sz="900" b="1"/>
          </a:p>
          <a:p>
            <a:pPr marL="457200" lvl="1" indent="0">
              <a:buNone/>
            </a:pPr>
            <a:r>
              <a:rPr lang="en-US" sz="2000" b="1"/>
              <a:t>Final dataset: 9,327 rows and 28 columns</a:t>
            </a:r>
          </a:p>
        </p:txBody>
      </p:sp>
    </p:spTree>
    <p:extLst>
      <p:ext uri="{BB962C8B-B14F-4D97-AF65-F5344CB8AC3E}">
        <p14:creationId xmlns:p14="http://schemas.microsoft.com/office/powerpoint/2010/main" val="231789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9CD5D-C489-97C9-B278-9E3905C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307259"/>
            <a:ext cx="5616874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Notable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2A537-FEC5-987E-FE74-1EACF6CB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298180"/>
            <a:ext cx="5788938" cy="39418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200"/>
              <a:t>Runway Assignment </a:t>
            </a:r>
            <a:r>
              <a:rPr lang="en-US" sz="2200" b="1"/>
              <a:t>Not</a:t>
            </a:r>
            <a:r>
              <a:rPr lang="en-US" sz="2200"/>
              <a:t> Included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Different runways can affect taxi distance and takeoff sequencing</a:t>
            </a:r>
          </a:p>
          <a:p>
            <a:r>
              <a:rPr lang="en-US" sz="2200"/>
              <a:t>Gate Information </a:t>
            </a:r>
            <a:r>
              <a:rPr lang="en-US" sz="2200" b="1"/>
              <a:t>Not </a:t>
            </a:r>
            <a:r>
              <a:rPr lang="en-US" sz="2200"/>
              <a:t>Included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Gate location affects how long aircraft spend taxiing before takeoff</a:t>
            </a:r>
          </a:p>
          <a:p>
            <a:r>
              <a:rPr lang="en-US" sz="2200"/>
              <a:t>Limited to </a:t>
            </a:r>
            <a:r>
              <a:rPr lang="en-US" sz="2200" b="1"/>
              <a:t>Domestic Departures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EWR also handles international traffic, which may affect overall runway congestion but is not fully captured here</a:t>
            </a:r>
          </a:p>
          <a:p>
            <a:pPr marL="457200" lvl="1" indent="0">
              <a:buNone/>
            </a:pPr>
            <a:endParaRPr lang="en-US" sz="2200"/>
          </a:p>
          <a:p>
            <a:pPr marL="457200" lvl="1" indent="0">
              <a:buNone/>
            </a:pPr>
            <a:endParaRPr lang="en-US" sz="2200"/>
          </a:p>
        </p:txBody>
      </p:sp>
      <p:pic>
        <p:nvPicPr>
          <p:cNvPr id="24" name="Picture 23" descr="Airplanes on a road">
            <a:extLst>
              <a:ext uri="{FF2B5EF4-FFF2-40B4-BE49-F238E27FC236}">
                <a16:creationId xmlns:a16="http://schemas.microsoft.com/office/drawing/2014/main" id="{810892CC-482B-4531-ED87-E11F61AD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62" r="23102" b="-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A78C4-82AA-AA26-AE88-32B8B9351DE5}"/>
              </a:ext>
            </a:extLst>
          </p:cNvPr>
          <p:cNvSpPr txBox="1"/>
          <p:nvPr/>
        </p:nvSpPr>
        <p:spPr>
          <a:xfrm>
            <a:off x="565355" y="5960806"/>
            <a:ext cx="6415548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These missing operational factors help </a:t>
            </a:r>
            <a:r>
              <a:rPr lang="en-US" sz="20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explain why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the model has moderate, not perfect,</a:t>
            </a:r>
            <a:r>
              <a:rPr lang="en-US" sz="200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predictive power.</a:t>
            </a:r>
            <a:endParaRPr lang="en-US" sz="2000"/>
          </a:p>
          <a:p>
            <a:pPr algn="ctr"/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6543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C4E6-E31C-61D0-43DC-693FA9BF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/>
              <a:t>Key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CD975-D7E0-27B9-5C5C-33148E3D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7257" y="711865"/>
            <a:ext cx="6801979" cy="543153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/>
              <a:t>Response Variable (Y):</a:t>
            </a:r>
          </a:p>
          <a:p>
            <a:pPr lvl="1"/>
            <a:r>
              <a:rPr lang="en-US" sz="2000"/>
              <a:t>TAXI_OUT: time in minutes from gate departure to wheels-off</a:t>
            </a:r>
          </a:p>
          <a:p>
            <a:r>
              <a:rPr lang="en-US" sz="2000"/>
              <a:t>Predictors (X):</a:t>
            </a:r>
          </a:p>
          <a:p>
            <a:pPr lvl="1"/>
            <a:r>
              <a:rPr lang="en-US" sz="2000"/>
              <a:t>Congestion: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CONGESTION_15M, CONGESTION_60M, CONGESTION_SURFACE_AT_DEP, REL_CONG_15M, REL_CONG_60M</a:t>
            </a:r>
          </a:p>
          <a:p>
            <a:pPr lvl="1"/>
            <a:r>
              <a:rPr lang="en-US" sz="2000"/>
              <a:t>Time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HOUR_OF_DAY, DAY_OF_WEEK, IS_PEAK_HOUR</a:t>
            </a:r>
          </a:p>
          <a:p>
            <a:pPr lvl="1"/>
            <a:r>
              <a:rPr lang="en-US" sz="2000"/>
              <a:t>Weather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TMP_C, DEW_C, </a:t>
            </a:r>
            <a:r>
              <a:rPr lang="en-US" err="1"/>
              <a:t>SLP_hPa</a:t>
            </a:r>
            <a:r>
              <a:rPr lang="en-US"/>
              <a:t>, </a:t>
            </a:r>
            <a:r>
              <a:rPr lang="en-US" err="1"/>
              <a:t>WindSpeed_ms</a:t>
            </a:r>
            <a:r>
              <a:rPr lang="en-US"/>
              <a:t>, </a:t>
            </a:r>
            <a:r>
              <a:rPr lang="en-US" err="1"/>
              <a:t>VIS_m</a:t>
            </a:r>
            <a:r>
              <a:rPr lang="en-US"/>
              <a:t>, RAIN_FLAG</a:t>
            </a:r>
          </a:p>
          <a:p>
            <a:pPr lvl="1"/>
            <a:r>
              <a:rPr lang="en-US" sz="2000"/>
              <a:t>Flight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DISTANCE</a:t>
            </a:r>
          </a:p>
        </p:txBody>
      </p:sp>
    </p:spTree>
    <p:extLst>
      <p:ext uri="{BB962C8B-B14F-4D97-AF65-F5344CB8AC3E}">
        <p14:creationId xmlns:p14="http://schemas.microsoft.com/office/powerpoint/2010/main" val="227620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57B1C8CE-33C8-DCAA-EE44-BBD2046BC1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34" b="-305"/>
          <a:stretch>
            <a:fillRect/>
          </a:stretch>
        </p:blipFill>
        <p:spPr>
          <a:xfrm>
            <a:off x="2" y="1587"/>
            <a:ext cx="7246969" cy="6866815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20DCD-876F-75BA-9F12-5CA7EE59E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353653"/>
            <a:ext cx="5291663" cy="37528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Most flights had taxi-out times around 10-40 minutes</a:t>
            </a:r>
          </a:p>
          <a:p>
            <a:r>
              <a:rPr lang="en-US" sz="2400"/>
              <a:t>The distribution is right-skewed.</a:t>
            </a:r>
          </a:p>
          <a:p>
            <a:r>
              <a:rPr lang="en-US" sz="2400"/>
              <a:t>A smaller number of flights had a very long taxi-out times, reaching over 100 minutes.</a:t>
            </a:r>
          </a:p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D2DC7-47A3-248C-1E3A-DB6CF51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US" sz="4000" b="1"/>
              <a:t>Taxi-Out Time is Right-Skewed</a:t>
            </a:r>
          </a:p>
        </p:txBody>
      </p:sp>
    </p:spTree>
    <p:extLst>
      <p:ext uri="{BB962C8B-B14F-4D97-AF65-F5344CB8AC3E}">
        <p14:creationId xmlns:p14="http://schemas.microsoft.com/office/powerpoint/2010/main" val="389363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F57E7-47EB-E1F2-2945-71612519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61" y="36336"/>
            <a:ext cx="7317485" cy="1680519"/>
          </a:xfrm>
        </p:spPr>
        <p:txBody>
          <a:bodyPr>
            <a:normAutofit/>
          </a:bodyPr>
          <a:lstStyle/>
          <a:p>
            <a:r>
              <a:rPr lang="en-US" b="1"/>
              <a:t>Congestion and Taxi-Out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294F-708C-EA62-11E2-E73D0E4BC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44" y="1508143"/>
            <a:ext cx="1092005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Taxi-out time varies more when congestion levels are higher.</a:t>
            </a:r>
          </a:p>
          <a:p>
            <a:r>
              <a:rPr lang="en-US" sz="2000"/>
              <a:t>The relationship is not perfectly linear, but congestion appears important. </a:t>
            </a:r>
          </a:p>
          <a:p>
            <a:r>
              <a:rPr lang="en-US" sz="2000"/>
              <a:t>60-minute congestion becomes significant in the regression model.</a:t>
            </a:r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A graph of a taxi-out time&#10;&#10;AI-generated content may be incorrect.">
            <a:extLst>
              <a:ext uri="{FF2B5EF4-FFF2-40B4-BE49-F238E27FC236}">
                <a16:creationId xmlns:a16="http://schemas.microsoft.com/office/drawing/2014/main" id="{EBDC03FE-C191-C12C-847B-EFED48AB7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96" b="1972"/>
          <a:stretch>
            <a:fillRect/>
          </a:stretch>
        </p:blipFill>
        <p:spPr>
          <a:xfrm>
            <a:off x="958473" y="2595582"/>
            <a:ext cx="4488224" cy="4257464"/>
          </a:xfrm>
          <a:prstGeom prst="rect">
            <a:avLst/>
          </a:prstGeom>
        </p:spPr>
      </p:pic>
      <p:pic>
        <p:nvPicPr>
          <p:cNvPr id="4" name="Picture 3" descr="A graph of a taxi-out time&#10;&#10;AI-generated content may be incorrect.">
            <a:extLst>
              <a:ext uri="{FF2B5EF4-FFF2-40B4-BE49-F238E27FC236}">
                <a16:creationId xmlns:a16="http://schemas.microsoft.com/office/drawing/2014/main" id="{3A2349EE-7D10-5CBB-8E65-ED81B8380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90" b="1834"/>
          <a:stretch>
            <a:fillRect/>
          </a:stretch>
        </p:blipFill>
        <p:spPr>
          <a:xfrm>
            <a:off x="6758239" y="2595354"/>
            <a:ext cx="4381519" cy="426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6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B5C4-A313-7B52-9FA2-2DB5373E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55" y="250303"/>
            <a:ext cx="10515600" cy="1325563"/>
          </a:xfrm>
        </p:spPr>
        <p:txBody>
          <a:bodyPr/>
          <a:lstStyle/>
          <a:p>
            <a:r>
              <a:rPr lang="en-US" b="1"/>
              <a:t>Taxi-Out Time by Peak Hour and 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00220-94B8-0E3E-21A6-39820FF16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762" y="1413215"/>
            <a:ext cx="4734716" cy="8765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/>
              <a:t>Rainy conditions show greater spread and more extreme taxi-out times.</a:t>
            </a:r>
          </a:p>
          <a:p>
            <a:endParaRPr lang="en-US" sz="2500"/>
          </a:p>
          <a:p>
            <a:endParaRPr lang="en-US" sz="2500"/>
          </a:p>
          <a:p>
            <a:endParaRPr lang="en-US" sz="2500"/>
          </a:p>
        </p:txBody>
      </p:sp>
      <p:pic>
        <p:nvPicPr>
          <p:cNvPr id="7" name="Content Placeholder 6" descr="A graph of a taxi-out time&#10;&#10;AI-generated content may be incorrect.">
            <a:extLst>
              <a:ext uri="{FF2B5EF4-FFF2-40B4-BE49-F238E27FC236}">
                <a16:creationId xmlns:a16="http://schemas.microsoft.com/office/drawing/2014/main" id="{F9720A93-B052-7028-2904-AF0832EFB8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64520" y="2231737"/>
            <a:ext cx="3983572" cy="40173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 descr="A graph of rain flag&#10;&#10;AI-generated content may be incorrect.">
            <a:extLst>
              <a:ext uri="{FF2B5EF4-FFF2-40B4-BE49-F238E27FC236}">
                <a16:creationId xmlns:a16="http://schemas.microsoft.com/office/drawing/2014/main" id="{EE12ADEA-EE0B-7FF8-E6BA-B05ED94A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47" y="2218840"/>
            <a:ext cx="3994543" cy="40232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E175E2-1691-4679-ACCF-4ABDF0844DBE}"/>
              </a:ext>
            </a:extLst>
          </p:cNvPr>
          <p:cNvSpPr txBox="1"/>
          <p:nvPr/>
        </p:nvSpPr>
        <p:spPr>
          <a:xfrm>
            <a:off x="1199483" y="6364236"/>
            <a:ext cx="106917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Both variables are relevant for modeling airport ground operations.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9C659-E26B-89DA-E54C-323444814327}"/>
              </a:ext>
            </a:extLst>
          </p:cNvPr>
          <p:cNvSpPr txBox="1"/>
          <p:nvPr/>
        </p:nvSpPr>
        <p:spPr>
          <a:xfrm>
            <a:off x="6870726" y="1420681"/>
            <a:ext cx="438799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Peak-hour flights show a slightly higher median taxi-out time.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1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982E5-4D30-7C17-A2EE-3E6070AD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53600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b="1"/>
              <a:t>Regression Modeling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73952-C2C0-4A22-689E-4DC3D98AC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039725"/>
            <a:ext cx="6002110" cy="37290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/>
              <a:t>Model 1: Full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Included all meaningful predictors from time, congestion, weather, and flight categories</a:t>
            </a:r>
          </a:p>
          <a:p>
            <a:r>
              <a:rPr lang="en-US" sz="2200"/>
              <a:t>Model 2: Stepwise Final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Used stepwise selection to remove weaker predictors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Final model was selected using AIC</a:t>
            </a:r>
          </a:p>
          <a:p>
            <a:r>
              <a:rPr lang="en-US" sz="2200"/>
              <a:t>Why we used two models: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Full model shows the complete starting relationship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Stepwise model improve interpretability while keeping important predictors</a:t>
            </a:r>
          </a:p>
        </p:txBody>
      </p:sp>
      <p:pic>
        <p:nvPicPr>
          <p:cNvPr id="5" name="Picture 4" descr="Wooden robot over white background">
            <a:extLst>
              <a:ext uri="{FF2B5EF4-FFF2-40B4-BE49-F238E27FC236}">
                <a16:creationId xmlns:a16="http://schemas.microsoft.com/office/drawing/2014/main" id="{B636F0BB-8EEB-2411-9AE7-1D13EA05EC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5" r="46204" b="-10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8333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D0324-00ED-44B5-19AF-71821267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80E6-52DD-2420-84BE-29EC5275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Models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9809-71D6-9481-C5B9-4782B4C59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80145"/>
            <a:ext cx="5157787" cy="1202314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Model 1 – Full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AC39B-D790-D8D8-86B8-50A0BCAF60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9" y="4759779"/>
                <a:ext cx="4961572" cy="142988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=0.3235</m:t>
                      </m:r>
                    </m:oMath>
                  </m:oMathPara>
                </a14:m>
                <a:endParaRPr lang="en-US" sz="2400" b="0">
                  <a:cs typeface="Arial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𝑎𝑑𝑗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Arial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𝑅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cs typeface="Arial"/>
                        </a:rPr>
                        <m:t>=0.32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19</m:t>
                      </m:r>
                    </m:oMath>
                  </m:oMathPara>
                </a14:m>
                <a:endParaRPr lang="en-US" sz="2400">
                  <a:cs typeface="Arial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AC39B-D790-D8D8-86B8-50A0BCAF6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9" y="4759779"/>
                <a:ext cx="4961572" cy="142988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D24C0E-2EAF-3E78-D043-0A3B41AFA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80143"/>
            <a:ext cx="5183188" cy="1202316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Model 2 – Final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164DDDA-CB0F-B6D2-664E-75F8F80C7B83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4759779"/>
                <a:ext cx="5183188" cy="142988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𝑅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cs typeface="Arial"/>
                        </a:rPr>
                        <m:t>=0.323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4</m:t>
                      </m:r>
                    </m:oMath>
                  </m:oMathPara>
                </a14:m>
                <a:endParaRPr lang="en-US" sz="2400">
                  <a:cs typeface="Arial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𝑎𝑑𝑗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𝑅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cs typeface="Arial"/>
                        </a:rPr>
                        <m:t>=0.32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Arial"/>
                        </a:rPr>
                        <m:t>2</m:t>
                      </m:r>
                    </m:oMath>
                  </m:oMathPara>
                </a14:m>
                <a:endParaRPr lang="en-US" sz="2400">
                  <a:cs typeface="Arial"/>
                </a:endParaRP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5164DDDA-CB0F-B6D2-664E-75F8F80C7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4759779"/>
                <a:ext cx="5183188" cy="1429884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E342FF2-5215-294E-939A-E3E62A191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12" y="2314135"/>
            <a:ext cx="4961572" cy="2229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553DE1-82F2-7088-F93A-AAC1F1F0B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406" y="2435281"/>
            <a:ext cx="4958394" cy="1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799D-782E-F03B-D188-AD69C15C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Final Regression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BE5B-7324-7609-F6DC-BFB97D269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4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The model explains about 32.2% of taxi-out time variation. </a:t>
            </a:r>
          </a:p>
          <a:p>
            <a:r>
              <a:rPr lang="en-US" sz="2400"/>
              <a:t>The overall regression model is statistically significant.</a:t>
            </a:r>
          </a:p>
          <a:p>
            <a:r>
              <a:rPr lang="en-US" sz="2400"/>
              <a:t>Prediction </a:t>
            </a:r>
            <a:r>
              <a:rPr lang="en-US" sz="2400" err="1"/>
              <a:t>erro</a:t>
            </a:r>
            <a:r>
              <a:rPr lang="en-US" sz="2400"/>
              <a:t>r is about 8 minutes on average using MAE.</a:t>
            </a:r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C279B9-4184-6430-8E89-82F3547BF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165" y="3028256"/>
            <a:ext cx="6730258" cy="36586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0604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D34D-0FD3-F0BD-768D-0726BF80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Key Drivers of Taxi-Out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22509-C997-FB77-0B75-EEEDFC9BD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925"/>
            <a:ext cx="10839189" cy="477733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/>
              <a:t>Strong significant predictors: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HOUR_OF_DAY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IS_PEAK_HOUR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CONGESTION_60M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CONGESTION_SURFACE_AT_DEO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REL_CONG_60M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TMP_C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DEW_C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SLP_hPa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WindSpeed_ms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RAIN_FLAG</a:t>
            </a:r>
          </a:p>
          <a:p>
            <a:r>
              <a:rPr lang="en-US" sz="2400"/>
              <a:t>Congestion and operational timing are the strongest predictors of taxi-out time.</a:t>
            </a:r>
            <a:r>
              <a:rPr lang="en-US" sz="2200"/>
              <a:t> 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CAC739-758E-2EF6-1238-D329EDA2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734" y="1825953"/>
            <a:ext cx="5757939" cy="37693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990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DD52-D67F-F6CA-3CF8-EE39C79C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Coefficient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65D0-7ED6-B5CE-E894-049344CC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5344729"/>
            <a:ext cx="10875033" cy="1432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Important note: </a:t>
            </a:r>
          </a:p>
          <a:p>
            <a:pPr lvl="1"/>
            <a:r>
              <a:rPr lang="en-US"/>
              <a:t>Some congestion variables are related to each other, so coefficients should be interpreted as adjusted effects, holding other variables constant.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B1F8BD-67F1-FFD0-FCDC-202D0EB5C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920"/>
              </p:ext>
            </p:extLst>
          </p:nvPr>
        </p:nvGraphicFramePr>
        <p:xfrm>
          <a:off x="949890" y="1482246"/>
          <a:ext cx="10762988" cy="3812161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737269">
                  <a:extLst>
                    <a:ext uri="{9D8B030D-6E8A-4147-A177-3AD203B41FA5}">
                      <a16:colId xmlns:a16="http://schemas.microsoft.com/office/drawing/2014/main" val="359124196"/>
                    </a:ext>
                  </a:extLst>
                </a:gridCol>
                <a:gridCol w="2928548">
                  <a:extLst>
                    <a:ext uri="{9D8B030D-6E8A-4147-A177-3AD203B41FA5}">
                      <a16:colId xmlns:a16="http://schemas.microsoft.com/office/drawing/2014/main" val="1521375506"/>
                    </a:ext>
                  </a:extLst>
                </a:gridCol>
                <a:gridCol w="4097171">
                  <a:extLst>
                    <a:ext uri="{9D8B030D-6E8A-4147-A177-3AD203B41FA5}">
                      <a16:colId xmlns:a16="http://schemas.microsoft.com/office/drawing/2014/main" val="123253146"/>
                    </a:ext>
                  </a:extLst>
                </a:gridCol>
              </a:tblGrid>
              <a:tr h="47220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65911"/>
                  </a:ext>
                </a:extLst>
              </a:tr>
              <a:tr h="667992">
                <a:tc>
                  <a:txBody>
                    <a:bodyPr/>
                    <a:lstStyle/>
                    <a:p>
                      <a:r>
                        <a:rPr lang="en-US"/>
                        <a:t>CONGESTION_SURFACE_AT_DEP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More aircraft taxiing increases taxi-out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022046"/>
                  </a:ext>
                </a:extLst>
              </a:tr>
              <a:tr h="667992">
                <a:tc>
                  <a:txBody>
                    <a:bodyPr/>
                    <a:lstStyle/>
                    <a:p>
                      <a:r>
                        <a:rPr lang="en-US"/>
                        <a:t>IS_PEAK_HOUR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Peak-hour departures have longer taxi-out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15224"/>
                  </a:ext>
                </a:extLst>
              </a:tr>
              <a:tr h="667992">
                <a:tc>
                  <a:txBody>
                    <a:bodyPr/>
                    <a:lstStyle/>
                    <a:p>
                      <a:r>
                        <a:rPr lang="en-US"/>
                        <a:t>RAIN_FLAG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Rain is associated with longer taxi-out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2987"/>
                  </a:ext>
                </a:extLst>
              </a:tr>
              <a:tr h="667992">
                <a:tc>
                  <a:txBody>
                    <a:bodyPr/>
                    <a:lstStyle/>
                    <a:p>
                      <a:r>
                        <a:rPr lang="en-US"/>
                        <a:t>HOUR_OF_DAY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Later hours are associated with longer taxi-out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944668"/>
                  </a:ext>
                </a:extLst>
              </a:tr>
              <a:tr h="667992">
                <a:tc>
                  <a:txBody>
                    <a:bodyPr/>
                    <a:lstStyle/>
                    <a:p>
                      <a:r>
                        <a:rPr lang="en-US"/>
                        <a:t>CONGESTION_60M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Negative in final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Interpreted carefully due to overlap with other congestion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76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270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C158-FA5C-4EC2-2B2A-19924A0F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Multicollinearity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5857-CC5C-3EE3-C756-5E2F5D828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10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Most adjusted VIF values were close to 1-2.</a:t>
            </a:r>
          </a:p>
          <a:p>
            <a:r>
              <a:rPr lang="en-US"/>
              <a:t>Congestion variables had higher values, but still acceptable after adjustment.</a:t>
            </a:r>
          </a:p>
          <a:p>
            <a:r>
              <a:rPr lang="en-US"/>
              <a:t>No severe multicollinearity problem was found in the final model.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488AE0-5745-0A58-926A-F3D277B6B2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3" b="3738"/>
          <a:stretch>
            <a:fillRect/>
          </a:stretch>
        </p:blipFill>
        <p:spPr>
          <a:xfrm>
            <a:off x="3315739" y="3428795"/>
            <a:ext cx="5713235" cy="3349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6513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38DE-E5FD-7E34-2F02-2DB0994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Regression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92439-114F-D790-4709-1B4E4AC59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68116"/>
            <a:ext cx="5210354" cy="479703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2800" b="0" kern="1200">
                <a:solidFill>
                  <a:srgbClr val="000000"/>
                </a:solidFill>
                <a:latin typeface="Aptos" panose="020B0004020202020204"/>
              </a:rPr>
              <a:t>Findings: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b="0" kern="1200">
                <a:solidFill>
                  <a:srgbClr val="000000"/>
                </a:solidFill>
                <a:latin typeface="Aptos"/>
              </a:rPr>
              <a:t>Residuals vs fitted plot shows some</a:t>
            </a:r>
            <a:r>
              <a:rPr lang="en-US">
                <a:solidFill>
                  <a:srgbClr val="000000"/>
                </a:solidFill>
                <a:latin typeface="Aptos"/>
              </a:rPr>
              <a:t> funnel shape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latin typeface="Aptos"/>
              </a:rPr>
              <a:t>Q-Q plot shows right-tail deviation.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latin typeface="Aptos"/>
              </a:rPr>
              <a:t>Scale-location plot suggests non-constant variance.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latin typeface="Aptos"/>
              </a:rPr>
              <a:t>A few influential points exist, but more observations are stable.</a:t>
            </a:r>
          </a:p>
          <a:p>
            <a:r>
              <a:rPr lang="en-US">
                <a:solidFill>
                  <a:srgbClr val="000000"/>
                </a:solidFill>
                <a:latin typeface="Aptos"/>
              </a:rPr>
              <a:t>Interpretation: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latin typeface="Aptos"/>
              </a:rPr>
              <a:t>The model is useful, but assumptions are not perfectly satisfied due to skewed taxi-out times and extreme operational cases.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4BA2B6B-22E8-603E-DC2A-11C9E12403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638" r="478"/>
          <a:stretch>
            <a:fillRect/>
          </a:stretch>
        </p:blipFill>
        <p:spPr>
          <a:xfrm>
            <a:off x="6511497" y="1397652"/>
            <a:ext cx="5400728" cy="52699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32974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D7BC-98D5-067B-6931-E259BA3D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Outliers and Influence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9657-D47F-D003-650B-5D2E79709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82493"/>
            <a:ext cx="6130505" cy="4394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Several observations had high studentized residuals.</a:t>
            </a:r>
          </a:p>
          <a:p>
            <a:r>
              <a:rPr lang="en-US"/>
              <a:t>Cook's distance identified a few influential observations.</a:t>
            </a:r>
          </a:p>
          <a:p>
            <a:r>
              <a:rPr lang="en-US"/>
              <a:t>These were not automatically removed because they may represent real airport events.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FE4432-EE43-F084-574F-EE226EEA72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02046" y="1031811"/>
            <a:ext cx="5209370" cy="51393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8567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37E7-598A-FDDD-61F8-1AA29DE8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Autocorrelation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9FE2C-9530-6135-02D7-0C10685AEF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Durbin-Watson statistic: 0.96</a:t>
            </a:r>
          </a:p>
          <a:p>
            <a:r>
              <a:rPr lang="en-US"/>
              <a:t>Indicates positive autocorrelation</a:t>
            </a:r>
          </a:p>
          <a:p>
            <a:r>
              <a:rPr lang="en-US"/>
              <a:t>This likely occurs because flights close in time are affected by similar airport conditions.</a:t>
            </a:r>
          </a:p>
        </p:txBody>
      </p:sp>
      <p:pic>
        <p:nvPicPr>
          <p:cNvPr id="5" name="Content Placeholder 4" descr="A computer screen shot of a test&#10;&#10;AI-generated content may be incorrect.">
            <a:extLst>
              <a:ext uri="{FF2B5EF4-FFF2-40B4-BE49-F238E27FC236}">
                <a16:creationId xmlns:a16="http://schemas.microsoft.com/office/drawing/2014/main" id="{989F6B49-1CB6-D9BE-6217-BACDC519D9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26063" y="2362218"/>
            <a:ext cx="6006229" cy="21299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1198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12E07-9838-AE94-B77A-69303E51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6088A-6AD4-6535-4BA3-8ED65400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120775"/>
          </a:xfrm>
        </p:spPr>
        <p:txBody>
          <a:bodyPr>
            <a:normAutofit/>
          </a:bodyPr>
          <a:lstStyle/>
          <a:p>
            <a:r>
              <a:rPr lang="en-US" b="1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C32B43-4FC0-CACF-585C-4DDE80604D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470" y="1485900"/>
                <a:ext cx="5251316" cy="4691063"/>
              </a:xfrm>
            </p:spPr>
            <p:txBody>
              <a:bodyPr vert="horz" lIns="91440" tIns="45720" rIns="91440" bIns="45720" rtlCol="0">
                <a:noAutofit/>
              </a:bodyPr>
              <a:lstStyle/>
              <a:p>
                <a:r>
                  <a:rPr lang="en-US" sz="1300">
                    <a:solidFill>
                      <a:schemeClr val="tx1"/>
                    </a:solidFill>
                  </a:rPr>
                  <a:t>Taxi-out time at EWR is significantly influenced by congestion, timing, and weather.</a:t>
                </a:r>
              </a:p>
              <a:p>
                <a:r>
                  <a:rPr lang="en-US" sz="1300">
                    <a:solidFill>
                      <a:schemeClr val="tx1"/>
                    </a:solidFill>
                  </a:rPr>
                  <a:t>Peak hour and surface congestion are major operational drivers.</a:t>
                </a:r>
              </a:p>
              <a:p>
                <a:r>
                  <a:rPr lang="en-US" sz="1300">
                    <a:solidFill>
                      <a:schemeClr val="tx1"/>
                    </a:solidFill>
                  </a:rPr>
                  <a:t>Rain and other weather variables contribute to longer taxi-out times.</a:t>
                </a:r>
              </a:p>
              <a:p>
                <a:r>
                  <a:rPr lang="en-US" sz="1300">
                    <a:solidFill>
                      <a:schemeClr val="tx1"/>
                    </a:solidFill>
                  </a:rPr>
                  <a:t>Final model: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𝑇𝐴𝑋𝐼</m:t>
                        </m:r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𝑂𝑈𝑇</m:t>
                        </m:r>
                      </m:e>
                    </m:acc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=9.9586+0.0006800(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𝐷𝐼𝑆𝑇𝐴𝑁𝐶𝐸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)+0.6151(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𝐻𝑂𝑈𝑅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)−1.0761(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𝐶𝑂𝑁𝐺𝐸𝑆𝑇𝐼𝑂𝑁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_15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)−0.4201(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𝐶𝑂𝑁𝐺𝐸𝑆𝑇𝐼𝑂𝑁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_60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)+1.0570(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𝐶𝑂𝑁𝐺𝐸𝑆𝑇𝐼𝑂𝑁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𝑆𝑈𝑅𝐹𝐴𝐶𝐸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𝐴𝑇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𝐷𝐸𝑃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)+4.5534(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𝑅𝐸𝐿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𝐶𝑂𝑁𝐺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_15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)−6.0111(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𝑅𝐸𝐿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𝐶𝑂𝑁𝐺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_60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)+0.08454(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𝑇𝑀𝑃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)+0.4235(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𝐷𝐸𝑊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)+0.0017445(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𝑆𝐿𝑃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h𝑃𝑎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)−7.4343(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𝑊𝑖𝑛𝑑𝑆𝑝𝑒𝑒𝑑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𝑚𝑠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)−0.0001921(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𝑉𝐼𝑆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)+0.3754(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𝑊𝐸𝐸𝐾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1)+0.03028(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𝑊𝐸𝐸𝐾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2)−2.7095(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𝑊𝐸𝐸𝐾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3)+2.7967(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𝑊𝐸𝐸𝐾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4)+0.3132(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𝑊𝐸𝐸𝐾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5)−0.8152(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𝐷𝐴𝑌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𝑂𝐹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𝑊𝐸𝐸𝐾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6)+3.708(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𝐼𝑆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𝑃𝐸𝐴𝐾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𝐻𝑂𝑈𝑅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1)+5.593(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𝑅𝐴𝐼𝑁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𝐹𝐿𝐴𝐺</m:t>
                    </m:r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lang="en-US" sz="1300">
                    <a:solidFill>
                      <a:schemeClr val="tx1"/>
                    </a:solidFill>
                    <a:effectLst/>
                  </a:rPr>
                  <a:t> </a:t>
                </a:r>
                <a:endParaRPr lang="en-US" sz="130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p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p>
                    </m:sSup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=0.3234</m:t>
                    </m:r>
                  </m:oMath>
                </a14:m>
                <a:endParaRPr lang="en-US" sz="1300" i="1">
                  <a:solidFill>
                    <a:schemeClr val="tx1"/>
                  </a:solidFill>
                  <a:latin typeface="Cambria Math" panose="02040503050406030204" pitchFamily="18" charset="0"/>
                  <a:cs typeface="Arial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𝑎𝑑𝑗</m:t>
                        </m:r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. </m:t>
                        </m:r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p>
                        <m:r>
                          <a:rPr lang="en-US" sz="1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p>
                    </m:sSup>
                    <m:r>
                      <a:rPr lang="en-US" sz="1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=0.322</m:t>
                    </m:r>
                  </m:oMath>
                </a14:m>
                <a:endParaRPr lang="en-US" sz="130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1300"/>
                  <a:t>The model explains about 32% of taxi-out variation.</a:t>
                </a:r>
                <a:endParaRPr lang="en-US" sz="1300">
                  <a:solidFill>
                    <a:schemeClr val="tx1"/>
                  </a:solidFill>
                </a:endParaRPr>
              </a:p>
              <a:p>
                <a:r>
                  <a:rPr lang="en-US" sz="1300" b="1"/>
                  <a:t>Takeaway: Taxi-out time is partly predictable using congestion, timing, and weather, but real-time airport operations introduce substantial unexplained variability.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C32B43-4FC0-CACF-585C-4DDE80604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470" y="1485900"/>
                <a:ext cx="5251316" cy="4691063"/>
              </a:xfrm>
              <a:blipFill>
                <a:blip r:embed="rId3"/>
                <a:stretch>
                  <a:fillRect l="-116" t="-390" b="-6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Taxiing - Wikipedia">
            <a:extLst>
              <a:ext uri="{FF2B5EF4-FFF2-40B4-BE49-F238E27FC236}">
                <a16:creationId xmlns:a16="http://schemas.microsoft.com/office/drawing/2014/main" id="{92E0E0C5-6ECC-64DB-7B91-F1603A833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2" r="25619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828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1186</Words>
  <Application>Microsoft Macintosh PowerPoint</Application>
  <PresentationFormat>Widescreen</PresentationFormat>
  <Paragraphs>165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Courier New</vt:lpstr>
      <vt:lpstr>Segoe UI</vt:lpstr>
      <vt:lpstr>Wingdings</vt:lpstr>
      <vt:lpstr>Office Theme</vt:lpstr>
      <vt:lpstr>Factors Influencing Taxi-Out Time at Newark Liberty International Airport (EWR)</vt:lpstr>
      <vt:lpstr>Research Question</vt:lpstr>
      <vt:lpstr>Data Collection Process</vt:lpstr>
      <vt:lpstr>Data Cleaning and Merging</vt:lpstr>
      <vt:lpstr>Notable Limitations</vt:lpstr>
      <vt:lpstr>Key Variables</vt:lpstr>
      <vt:lpstr>Taxi-Out Time is Right-Skewed</vt:lpstr>
      <vt:lpstr>Congestion and Taxi-Out Time</vt:lpstr>
      <vt:lpstr>Taxi-Out Time by Peak Hour and Rain</vt:lpstr>
      <vt:lpstr>Regression Modeling Strategy</vt:lpstr>
      <vt:lpstr>Models</vt:lpstr>
      <vt:lpstr>Final Regression Model Performance</vt:lpstr>
      <vt:lpstr>Key Drivers of Taxi-Out Time</vt:lpstr>
      <vt:lpstr>Coefficient Interpretation</vt:lpstr>
      <vt:lpstr>Multicollinearity Assessment</vt:lpstr>
      <vt:lpstr>Regression Diagnostics</vt:lpstr>
      <vt:lpstr>Outliers and Influence</vt:lpstr>
      <vt:lpstr>Autocorrelation Check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Sriya Vemuri</cp:lastModifiedBy>
  <cp:revision>3</cp:revision>
  <dcterms:created xsi:type="dcterms:W3CDTF">2026-04-19T21:52:35Z</dcterms:created>
  <dcterms:modified xsi:type="dcterms:W3CDTF">2026-05-07T19:20:08Z</dcterms:modified>
</cp:coreProperties>
</file>